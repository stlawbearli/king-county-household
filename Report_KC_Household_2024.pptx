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60" r:id="rId7"/>
    <p:sldId id="273" r:id="rId8"/>
    <p:sldId id="261" r:id="rId9"/>
    <p:sldId id="263" r:id="rId10"/>
    <p:sldId id="264" r:id="rId11"/>
    <p:sldId id="294" r:id="rId12"/>
    <p:sldId id="295" r:id="rId13"/>
    <p:sldId id="265" r:id="rId14"/>
    <p:sldId id="298" r:id="rId15"/>
    <p:sldId id="299" r:id="rId16"/>
    <p:sldId id="269" r:id="rId17"/>
    <p:sldId id="296" r:id="rId18"/>
    <p:sldId id="270" r:id="rId19"/>
    <p:sldId id="300" r:id="rId20"/>
    <p:sldId id="277" r:id="rId21"/>
    <p:sldId id="280" r:id="rId22"/>
    <p:sldId id="272"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12 features, with the test set removing the survived column</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sym typeface="+mn-ea"/>
              </a:rPr>
              <a:t>Location within King County is important with a noticeable disparity amongst zipcodes. The median house price ranges from $235,000 in 98002 up to $1,260,000 in 98039. (</a:t>
            </a:r>
            <a:r>
              <a:rPr lang="en-US" altLang="en-US"/>
              <a:t>https://github.com/nadinezab/kc-house-prices-prediction)</a:t>
            </a:r>
            <a:endParaRPr lang="en-US" altLang="en-US"/>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Country, City/ state, and where you are facing</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Explaination of the variables chosen, better condition, more rooms likely commands higher price sold</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Looking from the Bathrooms side, it has higher correlation with condition, grade, and for some reason longitude</a:t>
            </a:r>
            <a:endParaRPr lang="en-US"/>
          </a:p>
          <a:p>
            <a:r>
              <a:rPr lang="en-US"/>
              <a:t>Condition and Grade also seem to be closely related to each other</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Although from here it seems like view really is not as well sought after compared to Singpore in this instance.</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Tune: (</a:t>
            </a:r>
            <a:r>
              <a:rPr lang="en-US" altLang="en-US"/>
              <a:t>number of trees, depth) using grid search or random search with cross-validation.</a:t>
            </a:r>
            <a:endParaRPr lang="en-US" altLang="en-US"/>
          </a:p>
          <a:p>
            <a:endParaRPr lang="en-US" altLang="en-US"/>
          </a:p>
          <a:p>
            <a:r>
              <a:rPr lang="en-US" altLang="en-US"/>
              <a:t>Ensemble methods combine predictions from multiple models to create a more accurate and robust predictive model. The idea is that different models may make errors on different parts of the data, so combining their predictions can cancel out individual weaknesses</a:t>
            </a:r>
            <a:endParaRPr lang="en-US" altLang="en-US"/>
          </a:p>
          <a:p>
            <a:endParaRPr lang="en-US" altLang="en-US"/>
          </a:p>
          <a:p>
            <a:r>
              <a:rPr lang="en-US" altLang="en-US"/>
              <a:t>Ensemble can be like boosting and strapping (What we have learn in the other module as well) Ai Human interfaces</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One thing to note that yes, I understand these sources have full models, but I mostly use them to try and understand which model were to try and understand their data processing better.</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Applied Machine Learning Practise</a:t>
            </a:r>
            <a:endParaRPr lang="en-US" dirty="0">
              <a:solidFill>
                <a:srgbClr val="FF0000"/>
              </a:solidFill>
            </a:endParaRPr>
          </a:p>
        </p:txBody>
      </p:sp>
      <p:sp>
        <p:nvSpPr>
          <p:cNvPr id="3" name="Subtitle 2"/>
          <p:cNvSpPr>
            <a:spLocks noGrp="1"/>
          </p:cNvSpPr>
          <p:nvPr>
            <p:ph type="subTitle" idx="1"/>
          </p:nvPr>
        </p:nvSpPr>
        <p:spPr/>
        <p:txBody>
          <a:bodyPr/>
          <a:lstStyle/>
          <a:p>
            <a:r>
              <a:rPr lang="en-US"/>
              <a:t>Tan Han Rong </a:t>
            </a:r>
            <a:endParaRPr lang="en-US"/>
          </a:p>
          <a:p>
            <a:endParaRPr lang="en-US"/>
          </a:p>
          <a:p>
            <a:r>
              <a:rPr lang="en-US"/>
              <a:t>Prediction of King County </a:t>
            </a:r>
            <a:br>
              <a:rPr lang="en-US"/>
            </a:br>
            <a:r>
              <a:rPr lang="en-US"/>
              <a:t>House Sales, USA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Table of Contents</a:t>
            </a:r>
            <a:endParaRPr lang="en-US"/>
          </a:p>
        </p:txBody>
      </p:sp>
      <p:sp>
        <p:nvSpPr>
          <p:cNvPr id="3" name="Content Placeholder 2"/>
          <p:cNvSpPr>
            <a:spLocks noGrp="1"/>
          </p:cNvSpPr>
          <p:nvPr>
            <p:ph idx="1"/>
          </p:nvPr>
        </p:nvSpPr>
        <p:spPr/>
        <p:txBody>
          <a:bodyPr/>
          <a:p>
            <a:r>
              <a:rPr lang="en-US" sz="2800"/>
              <a:t>Description of data</a:t>
            </a:r>
            <a:endParaRPr lang="en-US" sz="2800"/>
          </a:p>
          <a:p>
            <a:r>
              <a:rPr lang="en-US" sz="2800">
                <a:sym typeface="+mn-ea"/>
              </a:rPr>
              <a:t>Background research</a:t>
            </a:r>
            <a:endParaRPr lang="en-US" sz="2800">
              <a:sym typeface="+mn-ea"/>
            </a:endParaRPr>
          </a:p>
          <a:p>
            <a:r>
              <a:rPr lang="en-US" sz="2800">
                <a:sym typeface="+mn-ea"/>
              </a:rPr>
              <a:t>Start of Code</a:t>
            </a:r>
            <a:endParaRPr lang="en-US" sz="2800"/>
          </a:p>
          <a:p>
            <a:r>
              <a:rPr lang="en-US" sz="2800">
                <a:sym typeface="+mn-ea"/>
              </a:rPr>
              <a:t>Data Exploration</a:t>
            </a:r>
            <a:endParaRPr lang="en-US" sz="2800"/>
          </a:p>
          <a:p>
            <a:r>
              <a:rPr lang="en-US" sz="2800">
                <a:sym typeface="+mn-ea"/>
              </a:rPr>
              <a:t>Feature Engineering</a:t>
            </a:r>
            <a:endParaRPr lang="en-US" sz="2800">
              <a:sym typeface="+mn-ea"/>
            </a:endParaRPr>
          </a:p>
          <a:p>
            <a:r>
              <a:rPr lang="en-US" sz="2800">
                <a:sym typeface="+mn-ea"/>
              </a:rPr>
              <a:t>Train Test Split</a:t>
            </a:r>
            <a:endParaRPr lang="en-US" sz="2800">
              <a:sym typeface="+mn-ea"/>
            </a:endParaRPr>
          </a:p>
          <a:p>
            <a:r>
              <a:rPr lang="en-US" sz="2800">
                <a:sym typeface="+mn-ea"/>
              </a:rPr>
              <a:t>Model Building</a:t>
            </a:r>
            <a:endParaRPr lang="en-US" sz="2800">
              <a:sym typeface="+mn-ea"/>
            </a:endParaRPr>
          </a:p>
          <a:p>
            <a:r>
              <a:rPr lang="en-US" sz="2800">
                <a:sym typeface="+mn-ea"/>
              </a:rPr>
              <a:t>Evaluation</a:t>
            </a:r>
            <a:endParaRPr lang="en-US" sz="2800"/>
          </a:p>
          <a:p>
            <a:r>
              <a:rPr lang="en-US" sz="2800">
                <a:sym typeface="+mn-ea"/>
              </a:rPr>
              <a:t>Improvements</a:t>
            </a:r>
            <a:endParaRPr lang="en-US" sz="2800">
              <a:sym typeface="+mn-ea"/>
            </a:endParaRPr>
          </a:p>
          <a:p>
            <a:r>
              <a:rPr lang="en-US" sz="2800">
                <a:sym typeface="+mn-ea"/>
              </a:rPr>
              <a:t>References</a:t>
            </a:r>
            <a:endParaRPr lang="en-US" sz="2800">
              <a:sym typeface="+mn-ea"/>
            </a:endParaRPr>
          </a:p>
        </p:txBody>
      </p:sp>
      <p:sp>
        <p:nvSpPr>
          <p:cNvPr id="4" name="Rounded Rectangle 3"/>
          <p:cNvSpPr/>
          <p:nvPr/>
        </p:nvSpPr>
        <p:spPr>
          <a:xfrm>
            <a:off x="307340" y="2262505"/>
            <a:ext cx="6275705" cy="2926715"/>
          </a:xfrm>
          <a:prstGeom prst="roundRect">
            <a:avLst/>
          </a:prstGeom>
          <a:solidFill>
            <a:srgbClr val="92D050">
              <a:alpha val="20000"/>
            </a:srgbClr>
          </a:solidFill>
          <a:ln w="28575" cap="flat" cmpd="sng" algn="ctr">
            <a:solidFill>
              <a:srgbClr val="00B050"/>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Description of data</a:t>
            </a:r>
            <a:endParaRPr lang="en-US"/>
          </a:p>
        </p:txBody>
      </p:sp>
      <p:sp>
        <p:nvSpPr>
          <p:cNvPr id="3" name="Content Placeholder 2"/>
          <p:cNvSpPr>
            <a:spLocks noGrp="1"/>
          </p:cNvSpPr>
          <p:nvPr>
            <p:ph idx="1"/>
          </p:nvPr>
        </p:nvSpPr>
        <p:spPr/>
        <p:txBody>
          <a:bodyPr/>
          <a:p>
            <a:r>
              <a:rPr lang="en-US"/>
              <a:t>Data set contains House Sale Prices in King County which includes homes sold From May 2014 to May 2015. </a:t>
            </a:r>
            <a:endParaRPr lang="en-US"/>
          </a:p>
          <a:p>
            <a:endParaRPr lang="en-US"/>
          </a:p>
          <a:p>
            <a:r>
              <a:rPr lang="en-US"/>
              <a:t>Data has </a:t>
            </a:r>
            <a:r>
              <a:rPr lang="en-US" altLang="en-US"/>
              <a:t>21,613 entries, with 21 columns</a:t>
            </a:r>
            <a:r>
              <a:rPr lang="en-US"/>
              <a:t>.</a:t>
            </a:r>
            <a:endParaRPr lang="en-US"/>
          </a:p>
        </p:txBody>
      </p:sp>
      <p:pic>
        <p:nvPicPr>
          <p:cNvPr id="6" name="Picture 5"/>
          <p:cNvPicPr>
            <a:picLocks noChangeAspect="1"/>
          </p:cNvPicPr>
          <p:nvPr/>
        </p:nvPicPr>
        <p:blipFill>
          <a:blip r:embed="rId1"/>
          <a:stretch>
            <a:fillRect/>
          </a:stretch>
        </p:blipFill>
        <p:spPr>
          <a:xfrm>
            <a:off x="8672830" y="2186940"/>
            <a:ext cx="3143250" cy="4562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Background research</a:t>
            </a:r>
            <a:endParaRPr lang="en-US"/>
          </a:p>
        </p:txBody>
      </p:sp>
      <p:sp>
        <p:nvSpPr>
          <p:cNvPr id="3" name="Content Placeholder 2"/>
          <p:cNvSpPr>
            <a:spLocks noGrp="1"/>
          </p:cNvSpPr>
          <p:nvPr>
            <p:ph idx="1"/>
          </p:nvPr>
        </p:nvSpPr>
        <p:spPr/>
        <p:txBody>
          <a:bodyPr/>
          <a:p>
            <a:r>
              <a:rPr lang="en-US"/>
              <a:t>Went to search up more details on the King County</a:t>
            </a:r>
            <a:endParaRPr lang="en-US"/>
          </a:p>
        </p:txBody>
      </p:sp>
      <p:pic>
        <p:nvPicPr>
          <p:cNvPr id="4" name="Picture 3"/>
          <p:cNvPicPr/>
          <p:nvPr/>
        </p:nvPicPr>
        <p:blipFill>
          <a:blip r:embed="rId1"/>
          <a:stretch>
            <a:fillRect/>
          </a:stretch>
        </p:blipFill>
        <p:spPr>
          <a:xfrm>
            <a:off x="974725" y="1967865"/>
            <a:ext cx="4859655" cy="4512945"/>
          </a:xfrm>
          <a:prstGeom prst="rect">
            <a:avLst/>
          </a:prstGeom>
        </p:spPr>
      </p:pic>
      <p:pic>
        <p:nvPicPr>
          <p:cNvPr id="8" name="Picture 7"/>
          <p:cNvPicPr>
            <a:picLocks noChangeAspect="1"/>
          </p:cNvPicPr>
          <p:nvPr/>
        </p:nvPicPr>
        <p:blipFill>
          <a:blip r:embed="rId2"/>
          <a:stretch>
            <a:fillRect/>
          </a:stretch>
        </p:blipFill>
        <p:spPr>
          <a:xfrm>
            <a:off x="5953760" y="2194560"/>
            <a:ext cx="5327650" cy="3933190"/>
          </a:xfrm>
          <a:prstGeom prst="rect">
            <a:avLst/>
          </a:prstGeom>
        </p:spPr>
      </p:pic>
      <p:sp>
        <p:nvSpPr>
          <p:cNvPr id="9" name="Text Box 8"/>
          <p:cNvSpPr txBox="1"/>
          <p:nvPr/>
        </p:nvSpPr>
        <p:spPr>
          <a:xfrm>
            <a:off x="6762115" y="6127750"/>
            <a:ext cx="4064000" cy="645160"/>
          </a:xfrm>
          <a:prstGeom prst="rect">
            <a:avLst/>
          </a:prstGeom>
          <a:noFill/>
        </p:spPr>
        <p:txBody>
          <a:bodyPr wrap="square" rtlCol="0">
            <a:spAutoFit/>
          </a:bodyPr>
          <a:p>
            <a:r>
              <a:rPr lang="en-US"/>
              <a:t>Seatle, Washington Area (Googlemaps)</a:t>
            </a:r>
            <a:endParaRPr lang="en-US"/>
          </a:p>
        </p:txBody>
      </p:sp>
      <p:sp>
        <p:nvSpPr>
          <p:cNvPr id="10" name="Rounded Rectangle 9"/>
          <p:cNvSpPr/>
          <p:nvPr/>
        </p:nvSpPr>
        <p:spPr>
          <a:xfrm>
            <a:off x="6477635" y="2922270"/>
            <a:ext cx="728345" cy="941705"/>
          </a:xfrm>
          <a:prstGeom prst="roundRect">
            <a:avLst/>
          </a:prstGeom>
          <a:noFill/>
          <a:ln w="38100" cap="flat" cmpd="sng" algn="ctr">
            <a:solidFill>
              <a:srgbClr val="FF0000"/>
            </a:solidFill>
            <a:prstDash val="dash"/>
            <a:round/>
            <a:headEnd type="none" w="med" len="med"/>
            <a:tailEnd type="none" w="med" len="med"/>
          </a:ln>
          <a:extLst>
            <a:ext uri="{909E8E84-426E-40DD-AFC4-6F175D3DCCD1}">
              <a14:hiddenFill xmlns:a14="http://schemas.microsoft.com/office/drawing/2010/main">
                <a:gradFill rotWithShape="0">
                  <a:gsLst>
                    <a:gs pos="0">
                      <a:schemeClr val="accent1"/>
                    </a:gs>
                    <a:gs pos="100000">
                      <a:schemeClr val="accent2"/>
                    </a:gs>
                  </a:gsLst>
                  <a:lin ang="5400000" scaled="1"/>
                </a:gradFill>
              </a14:hiddenFill>
            </a:ext>
          </a:extLst>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1" name="Rectangles 10"/>
          <p:cNvSpPr/>
          <p:nvPr/>
        </p:nvSpPr>
        <p:spPr>
          <a:xfrm>
            <a:off x="984885" y="1967865"/>
            <a:ext cx="4850130" cy="4512945"/>
          </a:xfrm>
          <a:prstGeom prst="rect">
            <a:avLst/>
          </a:prstGeom>
          <a:noFill/>
          <a:ln w="38100" cap="flat" cmpd="sng" algn="ctr">
            <a:solidFill>
              <a:srgbClr val="FF0000"/>
            </a:solidFill>
            <a:prstDash val="solid"/>
            <a:round/>
            <a:headEnd type="none" w="med" len="med"/>
            <a:tailEnd type="none" w="med" len="med"/>
          </a:ln>
          <a:extLst>
            <a:ext uri="{909E8E84-426E-40DD-AFC4-6F175D3DCCD1}">
              <a14:hiddenFill xmlns:a14="http://schemas.microsoft.com/office/drawing/2010/main">
                <a:gradFill rotWithShape="0">
                  <a:gsLst>
                    <a:gs pos="0">
                      <a:schemeClr val="accent1"/>
                    </a:gs>
                    <a:gs pos="100000">
                      <a:schemeClr val="accent2"/>
                    </a:gs>
                  </a:gsLst>
                  <a:lin ang="5400000" scaled="1"/>
                </a:gradFill>
              </a14:hiddenFill>
            </a:ext>
          </a:extLst>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2" name="Right Triangle 11"/>
          <p:cNvSpPr/>
          <p:nvPr/>
        </p:nvSpPr>
        <p:spPr>
          <a:xfrm>
            <a:off x="5831205" y="2670175"/>
            <a:ext cx="688340" cy="758825"/>
          </a:xfrm>
          <a:prstGeom prst="rtTriangle">
            <a:avLst/>
          </a:prstGeom>
          <a:noFill/>
          <a:ln w="38100"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3" name="Text Box 12"/>
          <p:cNvSpPr txBox="1"/>
          <p:nvPr/>
        </p:nvSpPr>
        <p:spPr>
          <a:xfrm>
            <a:off x="984885" y="6502400"/>
            <a:ext cx="4064000" cy="368300"/>
          </a:xfrm>
          <a:prstGeom prst="rect">
            <a:avLst/>
          </a:prstGeom>
          <a:noFill/>
        </p:spPr>
        <p:txBody>
          <a:bodyPr wrap="square" rtlCol="0">
            <a:spAutoFit/>
          </a:bodyPr>
          <a:p>
            <a:r>
              <a:rPr lang="en-US"/>
              <a:t>One of the most wealthiest zipcodes</a:t>
            </a:r>
            <a:endParaRPr lang="en-US"/>
          </a:p>
        </p:txBody>
      </p:sp>
      <p:sp>
        <p:nvSpPr>
          <p:cNvPr id="14" name="Text Box 13"/>
          <p:cNvSpPr txBox="1"/>
          <p:nvPr/>
        </p:nvSpPr>
        <p:spPr>
          <a:xfrm>
            <a:off x="4958715" y="1967865"/>
            <a:ext cx="4064000" cy="460375"/>
          </a:xfrm>
          <a:prstGeom prst="rect">
            <a:avLst/>
          </a:prstGeom>
          <a:noFill/>
        </p:spPr>
        <p:txBody>
          <a:bodyPr wrap="square" rtlCol="0">
            <a:spAutoFit/>
          </a:bodyPr>
          <a:p>
            <a:r>
              <a:rPr lang="en-US" sz="1200"/>
              <a:t>Median</a:t>
            </a:r>
            <a:endParaRPr lang="en-US" sz="1200"/>
          </a:p>
          <a:p>
            <a:r>
              <a:rPr lang="en-US" sz="1200"/>
              <a:t>Prices</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Background research</a:t>
            </a:r>
            <a:endParaRPr lang="en-US"/>
          </a:p>
        </p:txBody>
      </p:sp>
      <p:sp>
        <p:nvSpPr>
          <p:cNvPr id="3" name="Content Placeholder 2"/>
          <p:cNvSpPr>
            <a:spLocks noGrp="1"/>
          </p:cNvSpPr>
          <p:nvPr>
            <p:ph idx="1"/>
          </p:nvPr>
        </p:nvSpPr>
        <p:spPr/>
        <p:txBody>
          <a:bodyPr/>
          <a:p>
            <a:r>
              <a:rPr lang="en-US"/>
              <a:t>Property is usually about location, location, location.</a:t>
            </a:r>
            <a:br>
              <a:rPr lang="en-US"/>
            </a:br>
            <a:endParaRPr lang="en-US"/>
          </a:p>
          <a:p>
            <a:r>
              <a:rPr lang="en-US"/>
              <a:t>Putting on a thinking cap to have similar mindset for what contributes to value in Singapore</a:t>
            </a:r>
            <a:br>
              <a:rPr lang="en-US"/>
            </a:br>
            <a:endParaRPr lang="en-US"/>
          </a:p>
          <a:p>
            <a:r>
              <a:rPr lang="en-US"/>
              <a:t>Bedrooms, Bathrooms, Condition of the property, Zipcode and perhaps the View from the property</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Background research</a:t>
            </a:r>
            <a:endParaRPr lang="en-US"/>
          </a:p>
        </p:txBody>
      </p:sp>
      <p:sp>
        <p:nvSpPr>
          <p:cNvPr id="3" name="Content Placeholder 2"/>
          <p:cNvSpPr>
            <a:spLocks noGrp="1"/>
          </p:cNvSpPr>
          <p:nvPr>
            <p:ph idx="1"/>
          </p:nvPr>
        </p:nvSpPr>
        <p:spPr/>
        <p:txBody>
          <a:bodyPr/>
          <a:p>
            <a:r>
              <a:rPr lang="en-US"/>
              <a:t>Date</a:t>
            </a:r>
            <a:endParaRPr lang="en-US"/>
          </a:p>
          <a:p>
            <a:pPr lvl="1"/>
            <a:r>
              <a:rPr lang="en-US"/>
              <a:t>I am aware that the date at times do affect the property (be it black swan events like Covid, or sudden introduction of house policy, to even the hottest time of house sales). </a:t>
            </a:r>
            <a:endParaRPr lang="en-US"/>
          </a:p>
          <a:p>
            <a:pPr lvl="1"/>
            <a:endParaRPr lang="en-US"/>
          </a:p>
          <a:p>
            <a:pPr lvl="1"/>
            <a:r>
              <a:rPr lang="en-US"/>
              <a:t>Due to the difficulty of handling this data, I have chosen to exclude it from the dataset to train the model.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Start of Code</a:t>
            </a:r>
            <a:endParaRPr lang="en-US"/>
          </a:p>
        </p:txBody>
      </p:sp>
      <p:sp>
        <p:nvSpPr>
          <p:cNvPr id="3" name="Content Placeholder 2"/>
          <p:cNvSpPr/>
          <p:nvPr>
            <p:ph idx="1"/>
          </p:nvPr>
        </p:nvSpPr>
        <p:spPr/>
        <p:txBody>
          <a:bodyPr/>
          <a:p>
            <a:endParaRPr lang="en-US"/>
          </a:p>
        </p:txBody>
      </p:sp>
      <p:pic>
        <p:nvPicPr>
          <p:cNvPr id="5" name="Picture 4"/>
          <p:cNvPicPr>
            <a:picLocks noChangeAspect="1"/>
          </p:cNvPicPr>
          <p:nvPr/>
        </p:nvPicPr>
        <p:blipFill>
          <a:blip r:embed="rId1"/>
          <a:stretch>
            <a:fillRect/>
          </a:stretch>
        </p:blipFill>
        <p:spPr>
          <a:xfrm>
            <a:off x="3500120" y="1946910"/>
            <a:ext cx="5191125" cy="3514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sp>
        <p:nvSpPr>
          <p:cNvPr id="3" name="Content Placeholder 2"/>
          <p:cNvSpPr>
            <a:spLocks noGrp="1"/>
          </p:cNvSpPr>
          <p:nvPr>
            <p:ph idx="1"/>
          </p:nvPr>
        </p:nvSpPr>
        <p:spPr/>
        <p:txBody>
          <a:bodyPr/>
          <a:p>
            <a:endParaRPr lang="en-US"/>
          </a:p>
        </p:txBody>
      </p:sp>
      <p:pic>
        <p:nvPicPr>
          <p:cNvPr id="5" name="Picture 4"/>
          <p:cNvPicPr>
            <a:picLocks noChangeAspect="1"/>
          </p:cNvPicPr>
          <p:nvPr/>
        </p:nvPicPr>
        <p:blipFill>
          <a:blip r:embed="rId1"/>
          <a:stretch>
            <a:fillRect/>
          </a:stretch>
        </p:blipFill>
        <p:spPr>
          <a:xfrm>
            <a:off x="1424305" y="1377315"/>
            <a:ext cx="3448050" cy="1152525"/>
          </a:xfrm>
          <a:prstGeom prst="rect">
            <a:avLst/>
          </a:prstGeom>
        </p:spPr>
      </p:pic>
      <p:pic>
        <p:nvPicPr>
          <p:cNvPr id="8" name="Picture 7"/>
          <p:cNvPicPr>
            <a:picLocks noChangeAspect="1"/>
          </p:cNvPicPr>
          <p:nvPr/>
        </p:nvPicPr>
        <p:blipFill>
          <a:blip r:embed="rId2"/>
          <a:stretch>
            <a:fillRect/>
          </a:stretch>
        </p:blipFill>
        <p:spPr>
          <a:xfrm>
            <a:off x="1424305" y="2618740"/>
            <a:ext cx="9467850" cy="38766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sp>
        <p:nvSpPr>
          <p:cNvPr id="3" name="Content Placeholder 2"/>
          <p:cNvSpPr>
            <a:spLocks noGrp="1"/>
          </p:cNvSpPr>
          <p:nvPr>
            <p:ph idx="1"/>
          </p:nvPr>
        </p:nvSpPr>
        <p:spPr/>
        <p:txBody>
          <a:bodyPr/>
          <a:p>
            <a:r>
              <a:rPr lang="en-US"/>
              <a:t>Surprisingly no missing values!</a:t>
            </a:r>
            <a:endParaRPr lang="en-US"/>
          </a:p>
        </p:txBody>
      </p:sp>
      <p:pic>
        <p:nvPicPr>
          <p:cNvPr id="6" name="Picture 5"/>
          <p:cNvPicPr>
            <a:picLocks noChangeAspect="1"/>
          </p:cNvPicPr>
          <p:nvPr/>
        </p:nvPicPr>
        <p:blipFill>
          <a:blip r:embed="rId1"/>
          <a:stretch>
            <a:fillRect/>
          </a:stretch>
        </p:blipFill>
        <p:spPr>
          <a:xfrm>
            <a:off x="4608195" y="1889125"/>
            <a:ext cx="2085975" cy="4238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Data Exploration</a:t>
            </a:r>
            <a:endParaRPr lang="en-US"/>
          </a:p>
        </p:txBody>
      </p:sp>
      <p:sp>
        <p:nvSpPr>
          <p:cNvPr id="3" name="Content Placeholder 2"/>
          <p:cNvSpPr>
            <a:spLocks noGrp="1"/>
          </p:cNvSpPr>
          <p:nvPr>
            <p:ph idx="1"/>
          </p:nvPr>
        </p:nvSpPr>
        <p:spPr/>
        <p:txBody>
          <a:bodyPr/>
          <a:p>
            <a:r>
              <a:rPr lang="en-US"/>
              <a:t>Coming to which models to use</a:t>
            </a:r>
            <a:endParaRPr lang="en-US"/>
          </a:p>
          <a:p>
            <a:pPr lvl="1"/>
            <a:r>
              <a:rPr lang="en-US"/>
              <a:t>Since Part B was titled Regression</a:t>
            </a:r>
            <a:endParaRPr lang="en-US"/>
          </a:p>
          <a:p>
            <a:pPr lvl="1"/>
            <a:endParaRPr lang="en-US"/>
          </a:p>
          <a:p>
            <a:pPr lvl="1"/>
            <a:r>
              <a:rPr lang="en-US"/>
              <a:t>Also, because multiple linear regression is most commonly used in predicting property sales price.</a:t>
            </a:r>
            <a:endParaRPr lang="en-US"/>
          </a:p>
          <a:p>
            <a:pPr lvl="1"/>
            <a:endParaRPr lang="en-US"/>
          </a:p>
          <a:p>
            <a:pPr lvl="1"/>
            <a:r>
              <a:rPr lang="en-US"/>
              <a:t>With more focus on interpretability, I believe a simple linear regression works and it can also serve as a baseline.</a:t>
            </a:r>
            <a:endParaRPr lang="en-US"/>
          </a:p>
          <a:p>
            <a:pPr lvl="1"/>
            <a:endParaRPr lang="en-US"/>
          </a:p>
          <a:p>
            <a:pPr lvl="1"/>
            <a:r>
              <a:rPr lang="en-US"/>
              <a:t>Random forest regressor was also chosen as it is r</a:t>
            </a:r>
            <a:r>
              <a:rPr lang="en-US" altLang="en-US"/>
              <a:t>obust to outliers and can estimate feature importance.</a:t>
            </a:r>
            <a:endParaRPr lang="en-US" altLang="en-US"/>
          </a:p>
          <a:p>
            <a:pPr lvl="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 Engineering</a:t>
            </a:r>
            <a:endParaRPr lang="en-US"/>
          </a:p>
        </p:txBody>
      </p:sp>
      <p:sp>
        <p:nvSpPr>
          <p:cNvPr id="3" name="Content Placeholder 2"/>
          <p:cNvSpPr>
            <a:spLocks noGrp="1"/>
          </p:cNvSpPr>
          <p:nvPr>
            <p:ph idx="1"/>
          </p:nvPr>
        </p:nvSpPr>
        <p:spPr/>
        <p:txBody>
          <a:bodyPr/>
          <a:p>
            <a:r>
              <a:rPr lang="en-US"/>
              <a:t>Removed the date as discussed earlier</a:t>
            </a:r>
            <a:endParaRPr lang="en-US"/>
          </a:p>
        </p:txBody>
      </p:sp>
      <p:pic>
        <p:nvPicPr>
          <p:cNvPr id="6" name="Picture 5"/>
          <p:cNvPicPr>
            <a:picLocks noChangeAspect="1"/>
          </p:cNvPicPr>
          <p:nvPr/>
        </p:nvPicPr>
        <p:blipFill>
          <a:blip r:embed="rId1"/>
          <a:stretch>
            <a:fillRect/>
          </a:stretch>
        </p:blipFill>
        <p:spPr>
          <a:xfrm>
            <a:off x="1537970" y="2242820"/>
            <a:ext cx="9115425" cy="23717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Train Test Split</a:t>
            </a:r>
            <a:endParaRPr lang="en-US"/>
          </a:p>
        </p:txBody>
      </p:sp>
      <p:sp>
        <p:nvSpPr>
          <p:cNvPr id="3" name="Content Placeholder 2"/>
          <p:cNvSpPr>
            <a:spLocks noGrp="1"/>
          </p:cNvSpPr>
          <p:nvPr>
            <p:ph idx="1"/>
          </p:nvPr>
        </p:nvSpPr>
        <p:spPr/>
        <p:txBody>
          <a:bodyPr/>
          <a:p>
            <a:endParaRPr lang="en-US"/>
          </a:p>
        </p:txBody>
      </p:sp>
      <p:pic>
        <p:nvPicPr>
          <p:cNvPr id="4" name="Picture 3"/>
          <p:cNvPicPr>
            <a:picLocks noChangeAspect="1"/>
          </p:cNvPicPr>
          <p:nvPr/>
        </p:nvPicPr>
        <p:blipFill>
          <a:blip r:embed="rId1"/>
          <a:stretch>
            <a:fillRect/>
          </a:stretch>
        </p:blipFill>
        <p:spPr>
          <a:xfrm>
            <a:off x="2571750" y="1252220"/>
            <a:ext cx="7048500" cy="43529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Train Test Split</a:t>
            </a:r>
            <a:endParaRPr lang="en-US"/>
          </a:p>
        </p:txBody>
      </p:sp>
      <p:sp>
        <p:nvSpPr>
          <p:cNvPr id="3" name="Content Placeholder 2"/>
          <p:cNvSpPr>
            <a:spLocks noGrp="1"/>
          </p:cNvSpPr>
          <p:nvPr>
            <p:ph idx="1"/>
          </p:nvPr>
        </p:nvSpPr>
        <p:spPr/>
        <p:txBody>
          <a:bodyPr/>
          <a:p>
            <a:endParaRPr lang="en-US"/>
          </a:p>
        </p:txBody>
      </p:sp>
      <p:pic>
        <p:nvPicPr>
          <p:cNvPr id="4" name="Picture 3"/>
          <p:cNvPicPr>
            <a:picLocks noChangeAspect="1"/>
          </p:cNvPicPr>
          <p:nvPr/>
        </p:nvPicPr>
        <p:blipFill>
          <a:blip r:embed="rId1"/>
          <a:stretch>
            <a:fillRect/>
          </a:stretch>
        </p:blipFill>
        <p:spPr>
          <a:xfrm>
            <a:off x="2050415" y="773430"/>
            <a:ext cx="7948930" cy="60680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Building</a:t>
            </a:r>
            <a:endParaRPr lang="en-US"/>
          </a:p>
        </p:txBody>
      </p:sp>
      <p:sp>
        <p:nvSpPr>
          <p:cNvPr id="3" name="Content Placeholder 2"/>
          <p:cNvSpPr>
            <a:spLocks noGrp="1"/>
          </p:cNvSpPr>
          <p:nvPr>
            <p:ph idx="1"/>
          </p:nvPr>
        </p:nvSpPr>
        <p:spPr/>
        <p:txBody>
          <a:bodyPr/>
          <a:p>
            <a:r>
              <a:rPr lang="en-US"/>
              <a:t>Used </a:t>
            </a:r>
            <a:r>
              <a:rPr lang="en-US">
                <a:sym typeface="+mn-ea"/>
              </a:rPr>
              <a:t>Logistic Regression and</a:t>
            </a:r>
            <a:endParaRPr lang="en-US"/>
          </a:p>
          <a:p>
            <a:r>
              <a:rPr lang="en-US"/>
              <a:t>Random Forest Regression </a:t>
            </a:r>
            <a:endParaRPr lang="en-US"/>
          </a:p>
        </p:txBody>
      </p:sp>
      <p:pic>
        <p:nvPicPr>
          <p:cNvPr id="8" name="Picture 7"/>
          <p:cNvPicPr>
            <a:picLocks noChangeAspect="1"/>
          </p:cNvPicPr>
          <p:nvPr/>
        </p:nvPicPr>
        <p:blipFill>
          <a:blip r:embed="rId1"/>
          <a:stretch>
            <a:fillRect/>
          </a:stretch>
        </p:blipFill>
        <p:spPr>
          <a:xfrm>
            <a:off x="609600" y="2793365"/>
            <a:ext cx="6134100" cy="1981200"/>
          </a:xfrm>
          <a:prstGeom prst="rect">
            <a:avLst/>
          </a:prstGeom>
        </p:spPr>
      </p:pic>
      <p:pic>
        <p:nvPicPr>
          <p:cNvPr id="9" name="Picture 8"/>
          <p:cNvPicPr>
            <a:picLocks noChangeAspect="1"/>
          </p:cNvPicPr>
          <p:nvPr/>
        </p:nvPicPr>
        <p:blipFill>
          <a:blip r:embed="rId2"/>
          <a:stretch>
            <a:fillRect/>
          </a:stretch>
        </p:blipFill>
        <p:spPr>
          <a:xfrm>
            <a:off x="5480050" y="4486275"/>
            <a:ext cx="5638800" cy="1943100"/>
          </a:xfrm>
          <a:prstGeom prst="rect">
            <a:avLst/>
          </a:prstGeom>
        </p:spPr>
      </p:pic>
      <p:sp>
        <p:nvSpPr>
          <p:cNvPr id="10" name="Text Box 9"/>
          <p:cNvSpPr txBox="1"/>
          <p:nvPr/>
        </p:nvSpPr>
        <p:spPr>
          <a:xfrm>
            <a:off x="5480050" y="6489700"/>
            <a:ext cx="4064000" cy="368300"/>
          </a:xfrm>
          <a:prstGeom prst="rect">
            <a:avLst/>
          </a:prstGeom>
          <a:noFill/>
        </p:spPr>
        <p:txBody>
          <a:bodyPr wrap="square" rtlCol="0">
            <a:spAutoFit/>
          </a:bodyPr>
          <a:p>
            <a:r>
              <a:rPr lang="en-US"/>
              <a:t>Lower RMSE and MAE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Building</a:t>
            </a:r>
            <a:endParaRPr lang="en-US"/>
          </a:p>
        </p:txBody>
      </p:sp>
      <p:sp>
        <p:nvSpPr>
          <p:cNvPr id="3" name="Content Placeholder 2"/>
          <p:cNvSpPr>
            <a:spLocks noGrp="1"/>
          </p:cNvSpPr>
          <p:nvPr>
            <p:ph idx="1"/>
          </p:nvPr>
        </p:nvSpPr>
        <p:spPr/>
        <p:txBody>
          <a:bodyPr/>
          <a:p>
            <a:r>
              <a:rPr lang="en-US"/>
              <a:t>Optimising the model</a:t>
            </a:r>
            <a:endParaRPr lang="en-US"/>
          </a:p>
        </p:txBody>
      </p:sp>
      <p:pic>
        <p:nvPicPr>
          <p:cNvPr id="7" name="Picture 6"/>
          <p:cNvPicPr>
            <a:picLocks noChangeAspect="1"/>
          </p:cNvPicPr>
          <p:nvPr/>
        </p:nvPicPr>
        <p:blipFill>
          <a:blip r:embed="rId1"/>
          <a:stretch>
            <a:fillRect/>
          </a:stretch>
        </p:blipFill>
        <p:spPr>
          <a:xfrm>
            <a:off x="1077595" y="2097405"/>
            <a:ext cx="9467850" cy="3781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Evaluation</a:t>
            </a:r>
            <a:endParaRPr lang="en-US"/>
          </a:p>
        </p:txBody>
      </p:sp>
      <p:sp>
        <p:nvSpPr>
          <p:cNvPr id="3" name="Content Placeholder 2"/>
          <p:cNvSpPr>
            <a:spLocks noGrp="1"/>
          </p:cNvSpPr>
          <p:nvPr>
            <p:ph idx="1"/>
          </p:nvPr>
        </p:nvSpPr>
        <p:spPr/>
        <p:txBody>
          <a:bodyPr/>
          <a:p>
            <a:r>
              <a:rPr lang="en-US"/>
              <a:t>Feature importance</a:t>
            </a:r>
            <a:endParaRPr lang="en-US"/>
          </a:p>
        </p:txBody>
      </p:sp>
      <p:pic>
        <p:nvPicPr>
          <p:cNvPr id="6" name="Picture 5"/>
          <p:cNvPicPr>
            <a:picLocks noChangeAspect="1"/>
          </p:cNvPicPr>
          <p:nvPr/>
        </p:nvPicPr>
        <p:blipFill>
          <a:blip r:embed="rId1"/>
          <a:stretch>
            <a:fillRect/>
          </a:stretch>
        </p:blipFill>
        <p:spPr>
          <a:xfrm>
            <a:off x="2552700" y="2038350"/>
            <a:ext cx="7086600" cy="2781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Evaluation</a:t>
            </a:r>
            <a:endParaRPr lang="en-US"/>
          </a:p>
        </p:txBody>
      </p:sp>
      <p:sp>
        <p:nvSpPr>
          <p:cNvPr id="3" name="Content Placeholder 2"/>
          <p:cNvSpPr>
            <a:spLocks noGrp="1"/>
          </p:cNvSpPr>
          <p:nvPr>
            <p:ph idx="1"/>
          </p:nvPr>
        </p:nvSpPr>
        <p:spPr/>
        <p:txBody>
          <a:bodyPr/>
          <a:p>
            <a:r>
              <a:rPr lang="en-US"/>
              <a:t>Feature importance</a:t>
            </a:r>
            <a:endParaRPr lang="en-US"/>
          </a:p>
        </p:txBody>
      </p:sp>
      <p:pic>
        <p:nvPicPr>
          <p:cNvPr id="4" name="Picture 3"/>
          <p:cNvPicPr>
            <a:picLocks noChangeAspect="1"/>
          </p:cNvPicPr>
          <p:nvPr/>
        </p:nvPicPr>
        <p:blipFill>
          <a:blip r:embed="rId1"/>
          <a:stretch>
            <a:fillRect/>
          </a:stretch>
        </p:blipFill>
        <p:spPr>
          <a:xfrm>
            <a:off x="1902460" y="1847215"/>
            <a:ext cx="7924800" cy="4619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Evaluation</a:t>
            </a:r>
            <a:endParaRPr lang="en-US"/>
          </a:p>
        </p:txBody>
      </p:sp>
      <p:sp>
        <p:nvSpPr>
          <p:cNvPr id="3" name="Content Placeholder 2"/>
          <p:cNvSpPr>
            <a:spLocks noGrp="1"/>
          </p:cNvSpPr>
          <p:nvPr>
            <p:ph idx="1"/>
          </p:nvPr>
        </p:nvSpPr>
        <p:spPr/>
        <p:txBody>
          <a:bodyPr/>
          <a:p>
            <a:r>
              <a:rPr lang="en-US"/>
              <a:t>Cross Validation</a:t>
            </a:r>
            <a:endParaRPr lang="en-US"/>
          </a:p>
        </p:txBody>
      </p:sp>
      <p:pic>
        <p:nvPicPr>
          <p:cNvPr id="5" name="Picture 4"/>
          <p:cNvPicPr>
            <a:picLocks noChangeAspect="1"/>
          </p:cNvPicPr>
          <p:nvPr/>
        </p:nvPicPr>
        <p:blipFill>
          <a:blip r:embed="rId1"/>
          <a:stretch>
            <a:fillRect/>
          </a:stretch>
        </p:blipFill>
        <p:spPr>
          <a:xfrm>
            <a:off x="1809750" y="2205990"/>
            <a:ext cx="8572500" cy="30670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Improvements</a:t>
            </a:r>
            <a:endParaRPr lang="en-US"/>
          </a:p>
        </p:txBody>
      </p:sp>
      <p:sp>
        <p:nvSpPr>
          <p:cNvPr id="3" name="Content Placeholder 2"/>
          <p:cNvSpPr>
            <a:spLocks noGrp="1"/>
          </p:cNvSpPr>
          <p:nvPr>
            <p:ph idx="1"/>
          </p:nvPr>
        </p:nvSpPr>
        <p:spPr/>
        <p:txBody>
          <a:bodyPr/>
          <a:p>
            <a:r>
              <a:rPr lang="en-US"/>
              <a:t>On hindsight</a:t>
            </a:r>
            <a:endParaRPr lang="en-US"/>
          </a:p>
          <a:p>
            <a:pPr lvl="1"/>
            <a:r>
              <a:rPr lang="en-US"/>
              <a:t>Could have further tried to include more detailed items such as </a:t>
            </a:r>
            <a:r>
              <a:rPr lang="en-US" u="sng"/>
              <a:t>month and day</a:t>
            </a:r>
            <a:r>
              <a:rPr lang="en-US"/>
              <a:t> from the dates. I could use it to possible represent trends</a:t>
            </a:r>
            <a:endParaRPr lang="en-US"/>
          </a:p>
          <a:p>
            <a:pPr lvl="1"/>
            <a:r>
              <a:rPr lang="en-US" u="sng"/>
              <a:t>Rerun </a:t>
            </a:r>
            <a:r>
              <a:rPr lang="en-US"/>
              <a:t>of the model after finding out the feature importance, </a:t>
            </a:r>
            <a:r>
              <a:rPr lang="en-US" u="sng"/>
              <a:t>removing features of a lower importance</a:t>
            </a:r>
            <a:r>
              <a:rPr lang="en-US"/>
              <a:t> in hopes to make the model better.</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References</a:t>
            </a:r>
            <a:endParaRPr lang="en-US"/>
          </a:p>
        </p:txBody>
      </p:sp>
      <p:sp>
        <p:nvSpPr>
          <p:cNvPr id="3" name="Content Placeholder 2"/>
          <p:cNvSpPr>
            <a:spLocks noGrp="1"/>
          </p:cNvSpPr>
          <p:nvPr>
            <p:ph idx="1"/>
          </p:nvPr>
        </p:nvSpPr>
        <p:spPr/>
        <p:txBody>
          <a:bodyPr/>
          <a:p>
            <a:r>
              <a:rPr lang="en-US" altLang="en-US" sz="2000"/>
              <a:t>https://www.kaggle.com/datasets/harlfoxem/housesalesprediction/data</a:t>
            </a:r>
            <a:endParaRPr lang="en-US" altLang="en-US" sz="2000"/>
          </a:p>
          <a:p>
            <a:r>
              <a:rPr lang="en-US" altLang="en-US" sz="2000"/>
              <a:t>https://www.seattlepi.com/local/seattlenews/article/These-are-the-20-wealthiest-ZIP-codes-in-King-12561838.php </a:t>
            </a:r>
            <a:r>
              <a:rPr lang="en-US" altLang="en-US" sz="2000">
                <a:solidFill>
                  <a:srgbClr val="FF0000"/>
                </a:solidFill>
              </a:rPr>
              <a:t>(The zipcodes are in the just under the slideshow/pictures)</a:t>
            </a:r>
            <a:endParaRPr lang="en-US" altLang="en-US" sz="2000">
              <a:solidFill>
                <a:srgbClr val="FF0000"/>
              </a:solidFill>
            </a:endParaRPr>
          </a:p>
          <a:p>
            <a:r>
              <a:rPr lang="en-US" altLang="en-US" sz="2000"/>
              <a:t>https://bestdiplomats.org/richest-cities-in-washington/#:~:text=2.-,Mercer%20Island,median%20home%20price%20of%20%242%2C241%2C153.</a:t>
            </a:r>
            <a:endParaRPr lang="en-US" altLang="en-US" sz="2000"/>
          </a:p>
          <a:p>
            <a:r>
              <a:rPr lang="en-US" altLang="en-US" sz="2000"/>
              <a:t>https://www.google.com/maps/place/King+County,+WA,+USA/@47.5677791,-122.2193224,11.25z/data=!4m10!1m2!2m1!1s980039+king+county!3m6!1s0x54905c8c832d7837:0xe280ab6b8b64e03e!8m2!3d47.5480339!4d-121.9836029!15sChI5ODAwMzkga2luZyBjb3VudHmSAQl1c19jb3VudHngAQA!16zL20vMG1tcHo?entry=ttu&amp;g_ep=EgoyMDI0MTEyNC4xIKXMDSoASAFQAw%3D%3D</a:t>
            </a:r>
            <a:endParaRPr lang="en-US" altLang="en-US" sz="2000"/>
          </a:p>
          <a:p>
            <a:r>
              <a:rPr lang="en-US" altLang="en-US" sz="2000"/>
              <a:t>https://github.com/nadinezab/kc-house-prices-prediction</a:t>
            </a:r>
            <a:endParaRPr lang="en-US" altLang="en-US" sz="2000"/>
          </a:p>
          <a:p>
            <a:r>
              <a:rPr lang="en-US" altLang="en-US" sz="2000"/>
              <a:t>https://towardsdatascience.com/regression-using-sklearn-on-kc-housing-dataset-1ac80ca3d6d4</a:t>
            </a:r>
            <a:endParaRPr lang="en-US" altLang="en-US" sz="2000"/>
          </a:p>
          <a:p>
            <a:r>
              <a:rPr lang="en-US" altLang="en-US" sz="2000"/>
              <a:t>https://rpubs.com/shalmali2501/492324</a:t>
            </a:r>
            <a:endParaRPr lang="en-US" altLang="en-US" sz="2000"/>
          </a:p>
          <a:p>
            <a:r>
              <a:rPr lang="en-US" altLang="en-US" sz="2000"/>
              <a:t>https://www.kaggle.com/code/rinichristy/kc-data-exploration-and-visualization</a:t>
            </a:r>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08635" y="3359785"/>
            <a:ext cx="10972800" cy="582613"/>
          </a:xfrm>
        </p:spPr>
        <p:txBody>
          <a:bodyPr/>
          <a:p>
            <a:pPr algn="ctr"/>
            <a:r>
              <a:rPr lang="en-US" sz="6600"/>
              <a:t>Thank you</a:t>
            </a:r>
            <a:endParaRPr lang="en-US" sz="6600"/>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3162</Words>
  <Application>WPS Presentation</Application>
  <PresentationFormat>Widescreen</PresentationFormat>
  <Paragraphs>119</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Arial</vt:lpstr>
      <vt:lpstr>SimSun</vt:lpstr>
      <vt:lpstr>Wingdings</vt:lpstr>
      <vt:lpstr>Microsoft YaHei</vt:lpstr>
      <vt:lpstr>Arial Unicode MS</vt:lpstr>
      <vt:lpstr>Calibri</vt:lpstr>
      <vt:lpstr>Gear Drives</vt:lpstr>
      <vt:lpstr>Applied Machine Learning Assessment 1 Part B</vt:lpstr>
      <vt:lpstr>Table of Contents</vt:lpstr>
      <vt:lpstr>Description of data</vt:lpstr>
      <vt:lpstr>Background research</vt:lpstr>
      <vt:lpstr>Background research</vt:lpstr>
      <vt:lpstr>Background research</vt:lpstr>
      <vt:lpstr>Start of Code</vt:lpstr>
      <vt:lpstr>Data Exploration</vt:lpstr>
      <vt:lpstr>Data Exploration</vt:lpstr>
      <vt:lpstr>Data Exploration</vt:lpstr>
      <vt:lpstr>Feature Engineering</vt:lpstr>
      <vt:lpstr>Train Test Split</vt:lpstr>
      <vt:lpstr>Train Test Split</vt:lpstr>
      <vt:lpstr>Model Building</vt:lpstr>
      <vt:lpstr>Model Building</vt:lpstr>
      <vt:lpstr>Evaluation</vt:lpstr>
      <vt:lpstr>Evaluation</vt:lpstr>
      <vt:lpstr>Evaluation</vt:lpstr>
      <vt:lpstr>Improvements</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WPS_1704878147</cp:lastModifiedBy>
  <cp:revision>13</cp:revision>
  <dcterms:created xsi:type="dcterms:W3CDTF">2024-12-01T03:07:00Z</dcterms:created>
  <dcterms:modified xsi:type="dcterms:W3CDTF">2026-03-26T08:00:56Z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A624C1CB90BE4888BA3ECA67AA24AF05_13</vt:lpwstr>
  </property>
  <property fmtid="{D5CDD505-2E9C-101B-9397-08002B2CF9AE}" pid="3" name="KSOProductBuildVer">
    <vt:lpwstr>1033-12.1.0.25180</vt:lpwstr>
  </property>
</Properties>
</file>